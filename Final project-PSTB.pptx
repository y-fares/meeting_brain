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Oswald"/>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Oswald-bold.fntdata"/><Relationship Id="rId14"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a04b60f4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a04b60f4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0f060310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0f060310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0f060310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0f060310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J’ai conçu le projet comme un vrai produit, avec une architecture modulaire.</a:t>
            </a:r>
            <a:endParaRPr/>
          </a:p>
          <a:p>
            <a:pPr indent="0" lvl="0" marL="0" rtl="0" algn="l">
              <a:spcBef>
                <a:spcPts val="0"/>
              </a:spcBef>
              <a:spcAft>
                <a:spcPts val="0"/>
              </a:spcAft>
              <a:buClr>
                <a:schemeClr val="dk1"/>
              </a:buClr>
              <a:buSzPts val="1100"/>
              <a:buFont typeface="Arial"/>
              <a:buNone/>
            </a:pPr>
            <a:r>
              <a:rPr lang="en"/>
              <a:t>L’interface permet l’exploration rapide, l’API expose les données, la base structure l’information, et l’IA intervient uniquement là où elle apporte de la valeur.</a:t>
            </a:r>
            <a:endParaRPr/>
          </a:p>
          <a:p>
            <a:pPr indent="0" lvl="0" marL="0" rtl="0" algn="l">
              <a:spcBef>
                <a:spcPts val="0"/>
              </a:spcBef>
              <a:spcAft>
                <a:spcPts val="0"/>
              </a:spcAft>
              <a:buNone/>
            </a:pPr>
            <a:r>
              <a:rPr lang="en"/>
              <a:t>Cette séparation me permet d’intégrer facilement l’outil dans un environnement professionnel existant.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0f060310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0f060310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 projet contient plus d’une vingtaine de fonctionnalités, mais j’ai choisi de présenter ici les briques cœur produit, celles qui ont un impact direct sur le pilotage et la prise de décision.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0f060310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0f060310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0f060310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0f060310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54111ca19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54111ca19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54111ca19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54111ca19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1600"/>
              </a:spcBef>
              <a:spcAft>
                <a:spcPts val="0"/>
              </a:spcAft>
              <a:buClr>
                <a:schemeClr val="dk1"/>
              </a:buClr>
              <a:buSzPts val="1400"/>
              <a:buChar char="○"/>
              <a:defRPr>
                <a:solidFill>
                  <a:schemeClr val="dk1"/>
                </a:solidFill>
              </a:defRPr>
            </a:lvl2pPr>
            <a:lvl3pPr indent="-317500" lvl="2" marL="1371600">
              <a:spcBef>
                <a:spcPts val="1600"/>
              </a:spcBef>
              <a:spcAft>
                <a:spcPts val="0"/>
              </a:spcAft>
              <a:buClr>
                <a:schemeClr val="dk1"/>
              </a:buClr>
              <a:buSzPts val="1400"/>
              <a:buChar char="■"/>
              <a:defRPr>
                <a:solidFill>
                  <a:schemeClr val="dk1"/>
                </a:solidFill>
              </a:defRPr>
            </a:lvl3pPr>
            <a:lvl4pPr indent="-317500" lvl="3" marL="1828800">
              <a:spcBef>
                <a:spcPts val="1600"/>
              </a:spcBef>
              <a:spcAft>
                <a:spcPts val="0"/>
              </a:spcAft>
              <a:buClr>
                <a:schemeClr val="dk1"/>
              </a:buClr>
              <a:buSzPts val="1400"/>
              <a:buChar char="●"/>
              <a:defRPr>
                <a:solidFill>
                  <a:schemeClr val="dk1"/>
                </a:solidFill>
              </a:defRPr>
            </a:lvl4pPr>
            <a:lvl5pPr indent="-317500" lvl="4" marL="2286000">
              <a:spcBef>
                <a:spcPts val="1600"/>
              </a:spcBef>
              <a:spcAft>
                <a:spcPts val="0"/>
              </a:spcAft>
              <a:buClr>
                <a:schemeClr val="dk1"/>
              </a:buClr>
              <a:buSzPts val="1400"/>
              <a:buChar char="○"/>
              <a:defRPr>
                <a:solidFill>
                  <a:schemeClr val="dk1"/>
                </a:solidFill>
              </a:defRPr>
            </a:lvl5pPr>
            <a:lvl6pPr indent="-317500" lvl="5" marL="2743200">
              <a:spcBef>
                <a:spcPts val="1600"/>
              </a:spcBef>
              <a:spcAft>
                <a:spcPts val="0"/>
              </a:spcAft>
              <a:buClr>
                <a:schemeClr val="dk1"/>
              </a:buClr>
              <a:buSzPts val="1400"/>
              <a:buChar char="■"/>
              <a:defRPr>
                <a:solidFill>
                  <a:schemeClr val="dk1"/>
                </a:solidFill>
              </a:defRPr>
            </a:lvl6pPr>
            <a:lvl7pPr indent="-317500" lvl="6" marL="3200400">
              <a:spcBef>
                <a:spcPts val="1600"/>
              </a:spcBef>
              <a:spcAft>
                <a:spcPts val="0"/>
              </a:spcAft>
              <a:buClr>
                <a:schemeClr val="dk1"/>
              </a:buClr>
              <a:buSzPts val="1400"/>
              <a:buChar char="●"/>
              <a:defRPr>
                <a:solidFill>
                  <a:schemeClr val="dk1"/>
                </a:solidFill>
              </a:defRPr>
            </a:lvl7pPr>
            <a:lvl8pPr indent="-317500" lvl="7" marL="3657600">
              <a:spcBef>
                <a:spcPts val="1600"/>
              </a:spcBef>
              <a:spcAft>
                <a:spcPts val="0"/>
              </a:spcAft>
              <a:buClr>
                <a:schemeClr val="dk1"/>
              </a:buClr>
              <a:buSzPts val="1400"/>
              <a:buChar char="○"/>
              <a:defRPr>
                <a:solidFill>
                  <a:schemeClr val="dk1"/>
                </a:solidFill>
              </a:defRPr>
            </a:lvl8pPr>
            <a:lvl9pPr indent="-317500" lvl="8" marL="411480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1600"/>
              </a:spcBef>
              <a:spcAft>
                <a:spcPts val="0"/>
              </a:spcAft>
              <a:buClr>
                <a:schemeClr val="lt2"/>
              </a:buClr>
              <a:buSzPts val="1400"/>
              <a:buChar char="○"/>
              <a:defRPr>
                <a:solidFill>
                  <a:schemeClr val="lt2"/>
                </a:solidFill>
              </a:defRPr>
            </a:lvl2pPr>
            <a:lvl3pPr indent="-317500" lvl="2" marL="1371600">
              <a:lnSpc>
                <a:spcPct val="115000"/>
              </a:lnSpc>
              <a:spcBef>
                <a:spcPts val="1600"/>
              </a:spcBef>
              <a:spcAft>
                <a:spcPts val="0"/>
              </a:spcAft>
              <a:buClr>
                <a:schemeClr val="lt2"/>
              </a:buClr>
              <a:buSzPts val="1400"/>
              <a:buChar char="■"/>
              <a:defRPr>
                <a:solidFill>
                  <a:schemeClr val="lt2"/>
                </a:solidFill>
              </a:defRPr>
            </a:lvl3pPr>
            <a:lvl4pPr indent="-317500" lvl="3" marL="1828800">
              <a:lnSpc>
                <a:spcPct val="115000"/>
              </a:lnSpc>
              <a:spcBef>
                <a:spcPts val="1600"/>
              </a:spcBef>
              <a:spcAft>
                <a:spcPts val="0"/>
              </a:spcAft>
              <a:buClr>
                <a:schemeClr val="lt2"/>
              </a:buClr>
              <a:buSzPts val="1400"/>
              <a:buChar char="●"/>
              <a:defRPr>
                <a:solidFill>
                  <a:schemeClr val="lt2"/>
                </a:solidFill>
              </a:defRPr>
            </a:lvl4pPr>
            <a:lvl5pPr indent="-317500" lvl="4" marL="2286000">
              <a:lnSpc>
                <a:spcPct val="115000"/>
              </a:lnSpc>
              <a:spcBef>
                <a:spcPts val="1600"/>
              </a:spcBef>
              <a:spcAft>
                <a:spcPts val="0"/>
              </a:spcAft>
              <a:buClr>
                <a:schemeClr val="lt2"/>
              </a:buClr>
              <a:buSzPts val="1400"/>
              <a:buChar char="○"/>
              <a:defRPr>
                <a:solidFill>
                  <a:schemeClr val="lt2"/>
                </a:solidFill>
              </a:defRPr>
            </a:lvl5pPr>
            <a:lvl6pPr indent="-317500" lvl="5" marL="2743200">
              <a:lnSpc>
                <a:spcPct val="115000"/>
              </a:lnSpc>
              <a:spcBef>
                <a:spcPts val="1600"/>
              </a:spcBef>
              <a:spcAft>
                <a:spcPts val="0"/>
              </a:spcAft>
              <a:buClr>
                <a:schemeClr val="lt2"/>
              </a:buClr>
              <a:buSzPts val="1400"/>
              <a:buChar char="■"/>
              <a:defRPr>
                <a:solidFill>
                  <a:schemeClr val="lt2"/>
                </a:solidFill>
              </a:defRPr>
            </a:lvl6pPr>
            <a:lvl7pPr indent="-317500" lvl="6" marL="3200400">
              <a:lnSpc>
                <a:spcPct val="115000"/>
              </a:lnSpc>
              <a:spcBef>
                <a:spcPts val="1600"/>
              </a:spcBef>
              <a:spcAft>
                <a:spcPts val="0"/>
              </a:spcAft>
              <a:buClr>
                <a:schemeClr val="lt2"/>
              </a:buClr>
              <a:buSzPts val="1400"/>
              <a:buChar char="●"/>
              <a:defRPr>
                <a:solidFill>
                  <a:schemeClr val="lt2"/>
                </a:solidFill>
              </a:defRPr>
            </a:lvl7pPr>
            <a:lvl8pPr indent="-317500" lvl="7" marL="3657600">
              <a:lnSpc>
                <a:spcPct val="115000"/>
              </a:lnSpc>
              <a:spcBef>
                <a:spcPts val="1600"/>
              </a:spcBef>
              <a:spcAft>
                <a:spcPts val="0"/>
              </a:spcAft>
              <a:buClr>
                <a:schemeClr val="lt2"/>
              </a:buClr>
              <a:buSzPts val="1400"/>
              <a:buChar char="○"/>
              <a:defRPr>
                <a:solidFill>
                  <a:schemeClr val="lt2"/>
                </a:solidFill>
              </a:defRPr>
            </a:lvl8pPr>
            <a:lvl9pPr indent="-317500" lvl="8" marL="4114800">
              <a:lnSpc>
                <a:spcPct val="115000"/>
              </a:lnSpc>
              <a:spcBef>
                <a:spcPts val="1600"/>
              </a:spcBef>
              <a:spcAft>
                <a:spcPts val="160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Char char="●"/>
              <a:defRPr sz="1800">
                <a:solidFill>
                  <a:schemeClr val="lt2"/>
                </a:solidFill>
              </a:defRPr>
            </a:lvl1pPr>
            <a:lvl2pPr indent="-317500" lvl="1" marL="914400" rtl="0">
              <a:lnSpc>
                <a:spcPct val="115000"/>
              </a:lnSpc>
              <a:spcBef>
                <a:spcPts val="1600"/>
              </a:spcBef>
              <a:spcAft>
                <a:spcPts val="0"/>
              </a:spcAft>
              <a:buClr>
                <a:schemeClr val="lt2"/>
              </a:buClr>
              <a:buSzPts val="1400"/>
              <a:buChar char="○"/>
              <a:defRPr>
                <a:solidFill>
                  <a:schemeClr val="lt2"/>
                </a:solidFill>
              </a:defRPr>
            </a:lvl2pPr>
            <a:lvl3pPr indent="-317500" lvl="2" marL="1371600" rtl="0">
              <a:lnSpc>
                <a:spcPct val="115000"/>
              </a:lnSpc>
              <a:spcBef>
                <a:spcPts val="1600"/>
              </a:spcBef>
              <a:spcAft>
                <a:spcPts val="0"/>
              </a:spcAft>
              <a:buClr>
                <a:schemeClr val="lt2"/>
              </a:buClr>
              <a:buSzPts val="1400"/>
              <a:buChar char="■"/>
              <a:defRPr>
                <a:solidFill>
                  <a:schemeClr val="lt2"/>
                </a:solidFill>
              </a:defRPr>
            </a:lvl3pPr>
            <a:lvl4pPr indent="-317500" lvl="3" marL="1828800" rtl="0">
              <a:lnSpc>
                <a:spcPct val="115000"/>
              </a:lnSpc>
              <a:spcBef>
                <a:spcPts val="1600"/>
              </a:spcBef>
              <a:spcAft>
                <a:spcPts val="0"/>
              </a:spcAft>
              <a:buClr>
                <a:schemeClr val="lt2"/>
              </a:buClr>
              <a:buSzPts val="1400"/>
              <a:buChar char="●"/>
              <a:defRPr>
                <a:solidFill>
                  <a:schemeClr val="lt2"/>
                </a:solidFill>
              </a:defRPr>
            </a:lvl4pPr>
            <a:lvl5pPr indent="-317500" lvl="4" marL="2286000" rtl="0">
              <a:lnSpc>
                <a:spcPct val="115000"/>
              </a:lnSpc>
              <a:spcBef>
                <a:spcPts val="1600"/>
              </a:spcBef>
              <a:spcAft>
                <a:spcPts val="0"/>
              </a:spcAft>
              <a:buClr>
                <a:schemeClr val="lt2"/>
              </a:buClr>
              <a:buSzPts val="1400"/>
              <a:buChar char="○"/>
              <a:defRPr>
                <a:solidFill>
                  <a:schemeClr val="lt2"/>
                </a:solidFill>
              </a:defRPr>
            </a:lvl5pPr>
            <a:lvl6pPr indent="-317500" lvl="5" marL="2743200" rtl="0">
              <a:lnSpc>
                <a:spcPct val="115000"/>
              </a:lnSpc>
              <a:spcBef>
                <a:spcPts val="1600"/>
              </a:spcBef>
              <a:spcAft>
                <a:spcPts val="0"/>
              </a:spcAft>
              <a:buClr>
                <a:schemeClr val="lt2"/>
              </a:buClr>
              <a:buSzPts val="1400"/>
              <a:buChar char="■"/>
              <a:defRPr>
                <a:solidFill>
                  <a:schemeClr val="lt2"/>
                </a:solidFill>
              </a:defRPr>
            </a:lvl6pPr>
            <a:lvl7pPr indent="-317500" lvl="6" marL="3200400" rtl="0">
              <a:lnSpc>
                <a:spcPct val="115000"/>
              </a:lnSpc>
              <a:spcBef>
                <a:spcPts val="1600"/>
              </a:spcBef>
              <a:spcAft>
                <a:spcPts val="0"/>
              </a:spcAft>
              <a:buClr>
                <a:schemeClr val="lt2"/>
              </a:buClr>
              <a:buSzPts val="1400"/>
              <a:buChar char="●"/>
              <a:defRPr>
                <a:solidFill>
                  <a:schemeClr val="lt2"/>
                </a:solidFill>
              </a:defRPr>
            </a:lvl7pPr>
            <a:lvl8pPr indent="-317500" lvl="7" marL="3657600" rtl="0">
              <a:lnSpc>
                <a:spcPct val="115000"/>
              </a:lnSpc>
              <a:spcBef>
                <a:spcPts val="1600"/>
              </a:spcBef>
              <a:spcAft>
                <a:spcPts val="0"/>
              </a:spcAft>
              <a:buClr>
                <a:schemeClr val="lt2"/>
              </a:buClr>
              <a:buSzPts val="1400"/>
              <a:buChar char="○"/>
              <a:defRPr>
                <a:solidFill>
                  <a:schemeClr val="lt2"/>
                </a:solidFill>
              </a:defRPr>
            </a:lvl8pPr>
            <a:lvl9pPr indent="-317500" lvl="8" marL="4114800" rtl="0">
              <a:lnSpc>
                <a:spcPct val="115000"/>
              </a:lnSpc>
              <a:spcBef>
                <a:spcPts val="1600"/>
              </a:spcBef>
              <a:spcAft>
                <a:spcPts val="1600"/>
              </a:spcAft>
              <a:buClr>
                <a:schemeClr val="lt2"/>
              </a:buClr>
              <a:buSzPts val="1400"/>
              <a:buChar char="■"/>
              <a:defRPr>
                <a:solidFill>
                  <a:schemeClr val="lt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defRPr>
            </a:lvl1pPr>
            <a:lvl2pPr lvl="1" rtl="0" algn="r">
              <a:buNone/>
              <a:defRPr sz="1000">
                <a:solidFill>
                  <a:schemeClr val="lt2"/>
                </a:solidFill>
              </a:defRPr>
            </a:lvl2pPr>
            <a:lvl3pPr lvl="2" rtl="0" algn="r">
              <a:buNone/>
              <a:defRPr sz="1000">
                <a:solidFill>
                  <a:schemeClr val="lt2"/>
                </a:solidFill>
              </a:defRPr>
            </a:lvl3pPr>
            <a:lvl4pPr lvl="3" rtl="0" algn="r">
              <a:buNone/>
              <a:defRPr sz="1000">
                <a:solidFill>
                  <a:schemeClr val="lt2"/>
                </a:solidFill>
              </a:defRPr>
            </a:lvl4pPr>
            <a:lvl5pPr lvl="4" rtl="0" algn="r">
              <a:buNone/>
              <a:defRPr sz="1000">
                <a:solidFill>
                  <a:schemeClr val="lt2"/>
                </a:solidFill>
              </a:defRPr>
            </a:lvl5pPr>
            <a:lvl6pPr lvl="5" rtl="0" algn="r">
              <a:buNone/>
              <a:defRPr sz="1000">
                <a:solidFill>
                  <a:schemeClr val="lt2"/>
                </a:solidFill>
              </a:defRPr>
            </a:lvl6pPr>
            <a:lvl7pPr lvl="6" rtl="0" algn="r">
              <a:buNone/>
              <a:defRPr sz="1000">
                <a:solidFill>
                  <a:schemeClr val="lt2"/>
                </a:solidFill>
              </a:defRPr>
            </a:lvl7pPr>
            <a:lvl8pPr lvl="7" rtl="0" algn="r">
              <a:buNone/>
              <a:defRPr sz="1000">
                <a:solidFill>
                  <a:schemeClr val="lt2"/>
                </a:solidFill>
              </a:defRPr>
            </a:lvl8pPr>
            <a:lvl9pPr lvl="8" rtl="0"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s://www.loom.com/share/eeb78ecaa6134349b30b0b46e6507315"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8" name="Shape 98"/>
        <p:cNvGrpSpPr/>
        <p:nvPr/>
      </p:nvGrpSpPr>
      <p:grpSpPr>
        <a:xfrm>
          <a:off x="0" y="0"/>
          <a:ext cx="0" cy="0"/>
          <a:chOff x="0" y="0"/>
          <a:chExt cx="0" cy="0"/>
        </a:xfrm>
      </p:grpSpPr>
      <p:sp>
        <p:nvSpPr>
          <p:cNvPr id="99" name="Google Shape;99;p25"/>
          <p:cNvSpPr/>
          <p:nvPr/>
        </p:nvSpPr>
        <p:spPr>
          <a:xfrm>
            <a:off x="0" y="1419000"/>
            <a:ext cx="9144000" cy="3724800"/>
          </a:xfrm>
          <a:prstGeom prst="rect">
            <a:avLst/>
          </a:prstGeom>
          <a:solidFill>
            <a:srgbClr val="F3F3F3"/>
          </a:solidFill>
          <a:ln>
            <a:noFill/>
          </a:ln>
          <a:effectLst>
            <a:outerShdw blurRad="57150" rotWithShape="0" algn="bl" dir="5400000" dist="19050">
              <a:srgbClr val="000000">
                <a:alpha val="50000"/>
              </a:srgbClr>
            </a:outerShdw>
            <a:reflection blurRad="0" dir="5400000" dist="38100" endA="0" endPos="1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5"/>
          <p:cNvSpPr txBox="1"/>
          <p:nvPr/>
        </p:nvSpPr>
        <p:spPr>
          <a:xfrm>
            <a:off x="0" y="0"/>
            <a:ext cx="9144000" cy="141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Oswald"/>
              <a:ea typeface="Oswald"/>
              <a:cs typeface="Oswald"/>
              <a:sym typeface="Oswald"/>
            </a:endParaRPr>
          </a:p>
          <a:p>
            <a:pPr indent="0" lvl="0" marL="0" rtl="0" algn="ctr">
              <a:spcBef>
                <a:spcPts val="0"/>
              </a:spcBef>
              <a:spcAft>
                <a:spcPts val="0"/>
              </a:spcAft>
              <a:buNone/>
            </a:pPr>
            <a:r>
              <a:rPr lang="en" sz="2500">
                <a:solidFill>
                  <a:schemeClr val="dk1"/>
                </a:solidFill>
                <a:latin typeface="Oswald"/>
                <a:ea typeface="Oswald"/>
                <a:cs typeface="Oswald"/>
                <a:sym typeface="Oswald"/>
              </a:rPr>
              <a:t>MEETING BRAIN</a:t>
            </a:r>
            <a:endParaRPr sz="1000">
              <a:solidFill>
                <a:schemeClr val="dk1"/>
              </a:solidFill>
              <a:latin typeface="Oswald"/>
              <a:ea typeface="Oswald"/>
              <a:cs typeface="Oswald"/>
              <a:sym typeface="Oswald"/>
            </a:endParaRPr>
          </a:p>
          <a:p>
            <a:pPr indent="0" lvl="0" marL="0" rtl="0" algn="ctr">
              <a:spcBef>
                <a:spcPts val="0"/>
              </a:spcBef>
              <a:spcAft>
                <a:spcPts val="0"/>
              </a:spcAft>
              <a:buNone/>
            </a:pPr>
            <a:r>
              <a:rPr lang="en" sz="2400">
                <a:solidFill>
                  <a:schemeClr val="dk1"/>
                </a:solidFill>
                <a:latin typeface="Oswald"/>
                <a:ea typeface="Oswald"/>
                <a:cs typeface="Oswald"/>
                <a:sym typeface="Oswald"/>
              </a:rPr>
              <a:t>YACINE FARES</a:t>
            </a:r>
            <a:endParaRPr sz="2500">
              <a:solidFill>
                <a:schemeClr val="dk1"/>
              </a:solidFill>
              <a:latin typeface="Oswald"/>
              <a:ea typeface="Oswald"/>
              <a:cs typeface="Oswald"/>
              <a:sym typeface="Oswald"/>
            </a:endParaRPr>
          </a:p>
        </p:txBody>
      </p:sp>
      <p:pic>
        <p:nvPicPr>
          <p:cNvPr id="101" name="Google Shape;101;p25"/>
          <p:cNvPicPr preferRelativeResize="0"/>
          <p:nvPr/>
        </p:nvPicPr>
        <p:blipFill>
          <a:blip r:embed="rId3">
            <a:alphaModFix/>
          </a:blip>
          <a:stretch>
            <a:fillRect/>
          </a:stretch>
        </p:blipFill>
        <p:spPr>
          <a:xfrm>
            <a:off x="1820100" y="1446800"/>
            <a:ext cx="5503799" cy="36691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Meeting Brain</a:t>
            </a:r>
            <a:endParaRPr/>
          </a:p>
        </p:txBody>
      </p:sp>
      <p:sp>
        <p:nvSpPr>
          <p:cNvPr id="107" name="Google Shape;107;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Système d’IA qui transforme des comptes rendus de réunions en actions, décisions et indicateurs exploitables.</a:t>
            </a:r>
            <a:endParaRPr/>
          </a:p>
          <a:p>
            <a:pPr indent="0" lvl="0" marL="0" rtl="0" algn="l">
              <a:spcBef>
                <a:spcPts val="1600"/>
              </a:spcBef>
              <a:spcAft>
                <a:spcPts val="0"/>
              </a:spcAft>
              <a:buNone/>
            </a:pPr>
            <a:r>
              <a:rPr lang="en"/>
              <a:t>Les informations issues des réunions sont mal suivies, ce qui entraîne oublis, retards et manque de visibilité.</a:t>
            </a:r>
            <a:endParaRPr/>
          </a:p>
          <a:p>
            <a:pPr indent="0" lvl="0" marL="0" rtl="0" algn="l">
              <a:spcBef>
                <a:spcPts val="1600"/>
              </a:spcBef>
              <a:spcAft>
                <a:spcPts val="1600"/>
              </a:spcAft>
              <a:buNone/>
            </a:pPr>
            <a:r>
              <a:rPr lang="en"/>
              <a:t>Les entreprises perdent en efficacité car les décisions et actions ne sont ni centralisées ni pilotées.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Stack</a:t>
            </a:r>
            <a:endParaRPr/>
          </a:p>
        </p:txBody>
      </p:sp>
      <p:sp>
        <p:nvSpPr>
          <p:cNvPr id="113" name="Google Shape;113;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Python </a:t>
            </a:r>
            <a:r>
              <a:rPr lang="en"/>
              <a:t>– cœur applicatif et logique métier</a:t>
            </a:r>
            <a:endParaRPr/>
          </a:p>
          <a:p>
            <a:pPr indent="-342900" lvl="0" marL="457200" rtl="0" algn="l">
              <a:spcBef>
                <a:spcPts val="0"/>
              </a:spcBef>
              <a:spcAft>
                <a:spcPts val="0"/>
              </a:spcAft>
              <a:buSzPts val="1800"/>
              <a:buChar char="●"/>
            </a:pPr>
            <a:r>
              <a:rPr b="1" lang="en"/>
              <a:t>Streamlit </a:t>
            </a:r>
            <a:r>
              <a:rPr lang="en"/>
              <a:t>– couche UI pour exploration et prototypage rapide</a:t>
            </a:r>
            <a:endParaRPr/>
          </a:p>
          <a:p>
            <a:pPr indent="-342900" lvl="0" marL="457200" rtl="0" algn="l">
              <a:spcBef>
                <a:spcPts val="0"/>
              </a:spcBef>
              <a:spcAft>
                <a:spcPts val="0"/>
              </a:spcAft>
              <a:buSzPts val="1800"/>
              <a:buChar char="●"/>
            </a:pPr>
            <a:r>
              <a:rPr b="1" lang="en"/>
              <a:t>FastAPI (read-only)</a:t>
            </a:r>
            <a:r>
              <a:rPr lang="en"/>
              <a:t> – couche d’exposition API pour intégration externe</a:t>
            </a:r>
            <a:endParaRPr/>
          </a:p>
          <a:p>
            <a:pPr indent="-342900" lvl="0" marL="457200" rtl="0" algn="l">
              <a:spcBef>
                <a:spcPts val="0"/>
              </a:spcBef>
              <a:spcAft>
                <a:spcPts val="0"/>
              </a:spcAft>
              <a:buSzPts val="1800"/>
              <a:buChar char="●"/>
            </a:pPr>
            <a:r>
              <a:rPr b="1" lang="en"/>
              <a:t>SQLAlchemy </a:t>
            </a:r>
            <a:r>
              <a:rPr lang="en"/>
              <a:t>+ </a:t>
            </a:r>
            <a:r>
              <a:rPr b="1" lang="en"/>
              <a:t>SQLite </a:t>
            </a:r>
            <a:r>
              <a:rPr lang="en"/>
              <a:t>– couche de persistance et modèle de données</a:t>
            </a:r>
            <a:endParaRPr/>
          </a:p>
          <a:p>
            <a:pPr indent="-342900" lvl="0" marL="457200" rtl="0" algn="l">
              <a:spcBef>
                <a:spcPts val="0"/>
              </a:spcBef>
              <a:spcAft>
                <a:spcPts val="0"/>
              </a:spcAft>
              <a:buSzPts val="1800"/>
              <a:buChar char="●"/>
            </a:pPr>
            <a:r>
              <a:rPr b="1" lang="en"/>
              <a:t>Pipeline NLP</a:t>
            </a:r>
            <a:r>
              <a:rPr lang="en"/>
              <a:t> – ingestion, nettoyage et structuration du texte</a:t>
            </a:r>
            <a:endParaRPr/>
          </a:p>
          <a:p>
            <a:pPr indent="-342900" lvl="0" marL="457200" rtl="0" algn="l">
              <a:spcBef>
                <a:spcPts val="0"/>
              </a:spcBef>
              <a:spcAft>
                <a:spcPts val="0"/>
              </a:spcAft>
              <a:buSzPts val="1800"/>
              <a:buChar char="●"/>
            </a:pPr>
            <a:r>
              <a:rPr b="1" lang="en"/>
              <a:t>LLM orchestré</a:t>
            </a:r>
            <a:r>
              <a:rPr lang="en"/>
              <a:t> </a:t>
            </a:r>
            <a:r>
              <a:rPr b="1" lang="en"/>
              <a:t>(Gemini / Groq) </a:t>
            </a:r>
            <a:r>
              <a:rPr lang="en"/>
              <a:t>– extraction contrôlée et Q&amp;A métier</a:t>
            </a:r>
            <a:endParaRPr/>
          </a:p>
          <a:p>
            <a:pPr indent="-342900" lvl="0" marL="457200" rtl="0" algn="l">
              <a:spcBef>
                <a:spcPts val="0"/>
              </a:spcBef>
              <a:spcAft>
                <a:spcPts val="0"/>
              </a:spcAft>
              <a:buSzPts val="1800"/>
              <a:buChar char="●"/>
            </a:pPr>
            <a:r>
              <a:rPr b="1" lang="en"/>
              <a:t>Moteur d’insights déterministe</a:t>
            </a:r>
            <a:r>
              <a:rPr lang="en"/>
              <a:t> – règles métier, KPI, détection de risques</a:t>
            </a:r>
            <a:endParaRPr/>
          </a:p>
          <a:p>
            <a:pPr indent="-342900" lvl="0" marL="457200" rtl="0" algn="l">
              <a:spcBef>
                <a:spcPts val="0"/>
              </a:spcBef>
              <a:spcAft>
                <a:spcPts val="0"/>
              </a:spcAft>
              <a:buSzPts val="1800"/>
              <a:buChar char="●"/>
            </a:pPr>
            <a:r>
              <a:rPr b="1" lang="en"/>
              <a:t>Connecteurs externes</a:t>
            </a:r>
            <a:r>
              <a:rPr lang="en"/>
              <a:t> </a:t>
            </a:r>
            <a:r>
              <a:rPr b="1" lang="en"/>
              <a:t>(Notion, Slack)</a:t>
            </a:r>
            <a:r>
              <a:rPr lang="en"/>
              <a:t> – intégration dans les outils métiers</a:t>
            </a:r>
            <a:endParaRPr/>
          </a:p>
          <a:p>
            <a:pPr indent="-342900" lvl="0" marL="457200" rtl="0" algn="l">
              <a:spcBef>
                <a:spcPts val="0"/>
              </a:spcBef>
              <a:spcAft>
                <a:spcPts val="0"/>
              </a:spcAft>
              <a:buSzPts val="1800"/>
              <a:buChar char="●"/>
            </a:pPr>
            <a:r>
              <a:rPr b="1" lang="en"/>
              <a:t>Exports &amp; Data Access</a:t>
            </a:r>
            <a:r>
              <a:rPr lang="en"/>
              <a:t> </a:t>
            </a:r>
            <a:r>
              <a:rPr b="1" lang="en"/>
              <a:t>(CSV / JSON)</a:t>
            </a:r>
            <a:r>
              <a:rPr lang="en"/>
              <a:t> – interopérabilité BI</a:t>
            </a:r>
            <a:endParaRPr/>
          </a:p>
          <a:p>
            <a:pPr indent="-342900" lvl="0" marL="457200" rtl="0" algn="l">
              <a:spcBef>
                <a:spcPts val="0"/>
              </a:spcBef>
              <a:spcAft>
                <a:spcPts val="0"/>
              </a:spcAft>
              <a:buSzPts val="1800"/>
              <a:buChar char="●"/>
            </a:pPr>
            <a:r>
              <a:rPr b="1" lang="en"/>
              <a:t>Tests &amp; validation</a:t>
            </a:r>
            <a:r>
              <a:rPr lang="en"/>
              <a:t> </a:t>
            </a:r>
            <a:r>
              <a:rPr b="1" lang="en"/>
              <a:t>(Pytest)</a:t>
            </a:r>
            <a:r>
              <a:rPr lang="en"/>
              <a:t> – fiabilité et non-régression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list</a:t>
            </a:r>
            <a:endParaRPr/>
          </a:p>
        </p:txBody>
      </p:sp>
      <p:sp>
        <p:nvSpPr>
          <p:cNvPr id="119" name="Google Shape;119;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Analyse automatique de comptes rendus de réunions</a:t>
            </a:r>
            <a:endParaRPr/>
          </a:p>
          <a:p>
            <a:pPr indent="-342900" lvl="0" marL="457200" rtl="0" algn="l">
              <a:spcBef>
                <a:spcPts val="0"/>
              </a:spcBef>
              <a:spcAft>
                <a:spcPts val="0"/>
              </a:spcAft>
              <a:buSzPts val="1800"/>
              <a:buChar char="●"/>
            </a:pPr>
            <a:r>
              <a:rPr lang="en"/>
              <a:t>Génération de résumés et décisions par IA</a:t>
            </a:r>
            <a:endParaRPr/>
          </a:p>
          <a:p>
            <a:pPr indent="-342900" lvl="0" marL="457200" rtl="0" algn="l">
              <a:spcBef>
                <a:spcPts val="0"/>
              </a:spcBef>
              <a:spcAft>
                <a:spcPts val="0"/>
              </a:spcAft>
              <a:buSzPts val="1800"/>
              <a:buChar char="●"/>
            </a:pPr>
            <a:r>
              <a:rPr lang="en"/>
              <a:t>Extraction et suivi des actions (TODOs)</a:t>
            </a:r>
            <a:endParaRPr/>
          </a:p>
          <a:p>
            <a:pPr indent="-342900" lvl="0" marL="457200" rtl="0" algn="l">
              <a:spcBef>
                <a:spcPts val="0"/>
              </a:spcBef>
              <a:spcAft>
                <a:spcPts val="0"/>
              </a:spcAft>
              <a:buSzPts val="1800"/>
              <a:buChar char="●"/>
            </a:pPr>
            <a:r>
              <a:rPr lang="en"/>
              <a:t>Attribution des responsabilités et échéances</a:t>
            </a:r>
            <a:endParaRPr/>
          </a:p>
          <a:p>
            <a:pPr indent="-342900" lvl="0" marL="457200" rtl="0" algn="l">
              <a:spcBef>
                <a:spcPts val="0"/>
              </a:spcBef>
              <a:spcAft>
                <a:spcPts val="0"/>
              </a:spcAft>
              <a:buSzPts val="1800"/>
              <a:buChar char="●"/>
            </a:pPr>
            <a:r>
              <a:rPr lang="en"/>
              <a:t>Pilotage de l’avancement et détection des retards</a:t>
            </a:r>
            <a:endParaRPr/>
          </a:p>
          <a:p>
            <a:pPr indent="-342900" lvl="0" marL="457200" rtl="0" algn="l">
              <a:spcBef>
                <a:spcPts val="0"/>
              </a:spcBef>
              <a:spcAft>
                <a:spcPts val="0"/>
              </a:spcAft>
              <a:buSzPts val="1800"/>
              <a:buChar char="●"/>
            </a:pPr>
            <a:r>
              <a:rPr lang="en"/>
              <a:t>Génération d’insights et indicateurs projet</a:t>
            </a:r>
            <a:endParaRPr/>
          </a:p>
          <a:p>
            <a:pPr indent="-342900" lvl="0" marL="457200" rtl="0" algn="l">
              <a:spcBef>
                <a:spcPts val="0"/>
              </a:spcBef>
              <a:spcAft>
                <a:spcPts val="0"/>
              </a:spcAft>
              <a:buSzPts val="1800"/>
              <a:buChar char="●"/>
            </a:pPr>
            <a:r>
              <a:rPr lang="en"/>
              <a:t>Intégration Notion (Kanban des actions)</a:t>
            </a:r>
            <a:endParaRPr/>
          </a:p>
          <a:p>
            <a:pPr indent="-342900" lvl="0" marL="457200" rtl="0" algn="l">
              <a:spcBef>
                <a:spcPts val="0"/>
              </a:spcBef>
              <a:spcAft>
                <a:spcPts val="0"/>
              </a:spcAft>
              <a:buSzPts val="1800"/>
              <a:buChar char="●"/>
            </a:pPr>
            <a:r>
              <a:rPr lang="en"/>
              <a:t>API et exports pour outils externes (BI, automation)</a:t>
            </a:r>
            <a:endParaRPr/>
          </a:p>
          <a:p>
            <a:pPr indent="-342900" lvl="0" marL="457200" rtl="0" algn="l">
              <a:spcBef>
                <a:spcPts val="0"/>
              </a:spcBef>
              <a:spcAft>
                <a:spcPts val="0"/>
              </a:spcAft>
              <a:buSzPts val="1800"/>
              <a:buChar char="●"/>
            </a:pPr>
            <a:r>
              <a:rPr lang="en"/>
              <a:t>Interface conversationnelle Slack pour interroger les insights</a:t>
            </a:r>
            <a:endParaRPr/>
          </a:p>
          <a:p>
            <a:pPr indent="-342900" lvl="0" marL="457200" rtl="0" algn="l">
              <a:spcBef>
                <a:spcPts val="0"/>
              </a:spcBef>
              <a:spcAft>
                <a:spcPts val="0"/>
              </a:spcAft>
              <a:buSzPts val="1800"/>
              <a:buChar char="●"/>
            </a:pPr>
            <a:r>
              <a:rPr lang="en"/>
              <a:t>(Autres fonctionnalités techniques et intégrations implémentées mais non listées ici)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9"/>
          <p:cNvSpPr txBox="1"/>
          <p:nvPr/>
        </p:nvSpPr>
        <p:spPr>
          <a:xfrm>
            <a:off x="227525" y="184675"/>
            <a:ext cx="7698000" cy="5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Oswald"/>
                <a:ea typeface="Oswald"/>
                <a:cs typeface="Oswald"/>
                <a:sym typeface="Oswald"/>
              </a:rPr>
              <a:t>Difficulties you managed to overcome</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p:txBody>
      </p:sp>
      <p:sp>
        <p:nvSpPr>
          <p:cNvPr id="125" name="Google Shape;125;p29"/>
          <p:cNvSpPr txBox="1"/>
          <p:nvPr>
            <p:ph idx="4294967295" type="body"/>
          </p:nvPr>
        </p:nvSpPr>
        <p:spPr>
          <a:xfrm>
            <a:off x="311700" y="3239671"/>
            <a:ext cx="8520600" cy="1701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Alertes automatiques basées sur les risques projet</a:t>
            </a:r>
            <a:endParaRPr/>
          </a:p>
          <a:p>
            <a:pPr indent="-342900" lvl="0" marL="457200" rtl="0" algn="l">
              <a:spcBef>
                <a:spcPts val="0"/>
              </a:spcBef>
              <a:spcAft>
                <a:spcPts val="0"/>
              </a:spcAft>
              <a:buSzPts val="1800"/>
              <a:buChar char="●"/>
            </a:pPr>
            <a:r>
              <a:rPr lang="en"/>
              <a:t>Analyses avancées et détection de tendances</a:t>
            </a:r>
            <a:endParaRPr/>
          </a:p>
          <a:p>
            <a:pPr indent="-342900" lvl="0" marL="457200" rtl="0" algn="l">
              <a:spcBef>
                <a:spcPts val="0"/>
              </a:spcBef>
              <a:spcAft>
                <a:spcPts val="0"/>
              </a:spcAft>
              <a:buSzPts val="1800"/>
              <a:buChar char="●"/>
            </a:pPr>
            <a:r>
              <a:rPr lang="en"/>
              <a:t>Gestion multi-utilisateurs et rôles</a:t>
            </a:r>
            <a:endParaRPr/>
          </a:p>
          <a:p>
            <a:pPr indent="-342900" lvl="0" marL="457200" rtl="0" algn="l">
              <a:spcBef>
                <a:spcPts val="0"/>
              </a:spcBef>
              <a:spcAft>
                <a:spcPts val="0"/>
              </a:spcAft>
              <a:buSzPts val="1800"/>
              <a:buChar char="●"/>
            </a:pPr>
            <a:r>
              <a:rPr lang="en"/>
              <a:t>Automatisation des workflows (Make / n8n)</a:t>
            </a:r>
            <a:endParaRPr/>
          </a:p>
          <a:p>
            <a:pPr indent="-342900" lvl="0" marL="457200" rtl="0" algn="l">
              <a:spcBef>
                <a:spcPts val="0"/>
              </a:spcBef>
              <a:spcAft>
                <a:spcPts val="0"/>
              </a:spcAft>
              <a:buSzPts val="1800"/>
              <a:buChar char="●"/>
            </a:pPr>
            <a:r>
              <a:rPr lang="en"/>
              <a:t>Déploiement cloud et montée en charge</a:t>
            </a:r>
            <a:endParaRPr/>
          </a:p>
        </p:txBody>
      </p:sp>
      <p:sp>
        <p:nvSpPr>
          <p:cNvPr id="126" name="Google Shape;126;p29"/>
          <p:cNvSpPr txBox="1"/>
          <p:nvPr/>
        </p:nvSpPr>
        <p:spPr>
          <a:xfrm>
            <a:off x="311700" y="2660775"/>
            <a:ext cx="7698000" cy="5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Oswald"/>
                <a:ea typeface="Oswald"/>
                <a:cs typeface="Oswald"/>
                <a:sym typeface="Oswald"/>
              </a:rPr>
              <a:t>My next step - functionalities you plan on implementing (OPTIONAL)</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p:txBody>
      </p:sp>
      <p:sp>
        <p:nvSpPr>
          <p:cNvPr id="127" name="Google Shape;127;p29"/>
          <p:cNvSpPr txBox="1"/>
          <p:nvPr>
            <p:ph idx="4294967295" type="body"/>
          </p:nvPr>
        </p:nvSpPr>
        <p:spPr>
          <a:xfrm>
            <a:off x="311700" y="752875"/>
            <a:ext cx="8520600" cy="1804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Données de réunion non structurées et hétérogènes</a:t>
            </a:r>
            <a:endParaRPr/>
          </a:p>
          <a:p>
            <a:pPr indent="-342900" lvl="0" marL="457200" rtl="0" algn="l">
              <a:spcBef>
                <a:spcPts val="0"/>
              </a:spcBef>
              <a:spcAft>
                <a:spcPts val="0"/>
              </a:spcAft>
              <a:buSzPts val="1800"/>
              <a:buChar char="●"/>
            </a:pPr>
            <a:r>
              <a:rPr lang="en"/>
              <a:t>Risque d’hallucinations des modèles d’IA</a:t>
            </a:r>
            <a:endParaRPr/>
          </a:p>
          <a:p>
            <a:pPr indent="-342900" lvl="0" marL="457200" rtl="0" algn="l">
              <a:spcBef>
                <a:spcPts val="0"/>
              </a:spcBef>
              <a:spcAft>
                <a:spcPts val="0"/>
              </a:spcAft>
              <a:buSzPts val="1800"/>
              <a:buChar char="●"/>
            </a:pPr>
            <a:r>
              <a:rPr lang="en"/>
              <a:t>Transformation des sorties IA en données fiables</a:t>
            </a:r>
            <a:endParaRPr/>
          </a:p>
          <a:p>
            <a:pPr indent="-342900" lvl="0" marL="457200" rtl="0" algn="l">
              <a:spcBef>
                <a:spcPts val="0"/>
              </a:spcBef>
              <a:spcAft>
                <a:spcPts val="0"/>
              </a:spcAft>
              <a:buSzPts val="1800"/>
              <a:buChar char="●"/>
            </a:pPr>
            <a:r>
              <a:rPr lang="en"/>
              <a:t>Intégration avec des outils externes (Notion, Slack)</a:t>
            </a:r>
            <a:endParaRPr/>
          </a:p>
          <a:p>
            <a:pPr indent="-342900" lvl="0" marL="457200" rtl="0" algn="l">
              <a:spcBef>
                <a:spcPts val="0"/>
              </a:spcBef>
              <a:spcAft>
                <a:spcPts val="0"/>
              </a:spcAft>
              <a:buSzPts val="1800"/>
              <a:buChar char="●"/>
            </a:pPr>
            <a:r>
              <a:rPr lang="en"/>
              <a:t>Maintien de la cohérence des données dans le temps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0"/>
          <p:cNvSpPr txBox="1"/>
          <p:nvPr/>
        </p:nvSpPr>
        <p:spPr>
          <a:xfrm>
            <a:off x="227525" y="184675"/>
            <a:ext cx="7698000" cy="5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Oswald"/>
                <a:ea typeface="Oswald"/>
                <a:cs typeface="Oswald"/>
                <a:sym typeface="Oswald"/>
              </a:rPr>
              <a:t>SHOW THE 3minutes videos + SHOW some part of the code</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a:p>
            <a:pPr indent="0" lvl="0" marL="0" rtl="0" algn="l">
              <a:spcBef>
                <a:spcPts val="0"/>
              </a:spcBef>
              <a:spcAft>
                <a:spcPts val="0"/>
              </a:spcAft>
              <a:buNone/>
            </a:pPr>
            <a:r>
              <a:t/>
            </a:r>
            <a:endParaRPr sz="2400">
              <a:solidFill>
                <a:srgbClr val="FFFFFF"/>
              </a:solidFill>
              <a:latin typeface="Oswald"/>
              <a:ea typeface="Oswald"/>
              <a:cs typeface="Oswald"/>
              <a:sym typeface="Oswald"/>
            </a:endParaRPr>
          </a:p>
        </p:txBody>
      </p:sp>
      <p:sp>
        <p:nvSpPr>
          <p:cNvPr id="133" name="Google Shape;133;p30"/>
          <p:cNvSpPr txBox="1"/>
          <p:nvPr>
            <p:ph idx="4294967295" type="body"/>
          </p:nvPr>
        </p:nvSpPr>
        <p:spPr>
          <a:xfrm>
            <a:off x="311700" y="8635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u="sng">
                <a:solidFill>
                  <a:schemeClr val="hlink"/>
                </a:solidFill>
                <a:hlinkClick r:id="rId3"/>
              </a:rPr>
              <a:t>https://www.loom.com/share/eeb78ecaa6134349b30b0b46e6507315</a:t>
            </a:r>
            <a:endParaRPr/>
          </a:p>
        </p:txBody>
      </p:sp>
      <p:sp>
        <p:nvSpPr>
          <p:cNvPr id="134" name="Google Shape;134;p30"/>
          <p:cNvSpPr txBox="1"/>
          <p:nvPr>
            <p:ph idx="4294967295" type="title"/>
          </p:nvPr>
        </p:nvSpPr>
        <p:spPr>
          <a:xfrm>
            <a:off x="267900" y="2103225"/>
            <a:ext cx="8608200" cy="2733900"/>
          </a:xfrm>
          <a:prstGeom prst="rect">
            <a:avLst/>
          </a:prstGeom>
          <a:ln cap="flat" cmpd="sng" w="9525">
            <a:solidFill>
              <a:srgbClr val="00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u="sng">
                <a:solidFill>
                  <a:schemeClr val="accent5"/>
                </a:solidFill>
              </a:rPr>
              <a:t>IMPORTANT </a:t>
            </a:r>
            <a:r>
              <a:rPr lang="en" sz="2000">
                <a:solidFill>
                  <a:schemeClr val="accent5"/>
                </a:solidFill>
              </a:rPr>
              <a:t>: your PPT + the video + the questions from the jury is </a:t>
            </a:r>
            <a:r>
              <a:rPr b="1" lang="en" sz="2000" u="sng">
                <a:solidFill>
                  <a:schemeClr val="accent5"/>
                </a:solidFill>
              </a:rPr>
              <a:t>10min maximum</a:t>
            </a:r>
            <a:r>
              <a:rPr lang="en" sz="2000">
                <a:solidFill>
                  <a:schemeClr val="accent5"/>
                </a:solidFill>
              </a:rPr>
              <a:t>. </a:t>
            </a:r>
            <a:endParaRPr sz="2000">
              <a:solidFill>
                <a:schemeClr val="accent5"/>
              </a:solidFill>
            </a:endParaRPr>
          </a:p>
          <a:p>
            <a:pPr indent="0" lvl="0" marL="0" rtl="0" algn="l">
              <a:spcBef>
                <a:spcPts val="0"/>
              </a:spcBef>
              <a:spcAft>
                <a:spcPts val="0"/>
              </a:spcAft>
              <a:buNone/>
            </a:pPr>
            <a:r>
              <a:rPr lang="en" sz="2000">
                <a:solidFill>
                  <a:schemeClr val="accent5"/>
                </a:solidFill>
              </a:rPr>
              <a:t>We propose you do :</a:t>
            </a:r>
            <a:endParaRPr sz="2000">
              <a:solidFill>
                <a:schemeClr val="accent5"/>
              </a:solidFill>
            </a:endParaRPr>
          </a:p>
          <a:p>
            <a:pPr indent="-355600" lvl="0" marL="457200" rtl="0" algn="l">
              <a:spcBef>
                <a:spcPts val="0"/>
              </a:spcBef>
              <a:spcAft>
                <a:spcPts val="0"/>
              </a:spcAft>
              <a:buClr>
                <a:schemeClr val="accent5"/>
              </a:buClr>
              <a:buSzPts val="2000"/>
              <a:buChar char="-"/>
            </a:pPr>
            <a:r>
              <a:rPr lang="en" sz="2000">
                <a:solidFill>
                  <a:schemeClr val="accent5"/>
                </a:solidFill>
              </a:rPr>
              <a:t>4min PPT</a:t>
            </a:r>
            <a:endParaRPr sz="2000">
              <a:solidFill>
                <a:schemeClr val="accent5"/>
              </a:solidFill>
            </a:endParaRPr>
          </a:p>
          <a:p>
            <a:pPr indent="-355600" lvl="0" marL="457200" rtl="0" algn="l">
              <a:spcBef>
                <a:spcPts val="0"/>
              </a:spcBef>
              <a:spcAft>
                <a:spcPts val="0"/>
              </a:spcAft>
              <a:buClr>
                <a:schemeClr val="accent5"/>
              </a:buClr>
              <a:buSzPts val="2000"/>
              <a:buChar char="-"/>
            </a:pPr>
            <a:r>
              <a:rPr lang="en" sz="2000">
                <a:solidFill>
                  <a:schemeClr val="accent5"/>
                </a:solidFill>
              </a:rPr>
              <a:t>4min video and code presentation</a:t>
            </a:r>
            <a:endParaRPr sz="2000">
              <a:solidFill>
                <a:schemeClr val="accent5"/>
              </a:solidFill>
            </a:endParaRPr>
          </a:p>
          <a:p>
            <a:pPr indent="-355600" lvl="0" marL="457200" rtl="0" algn="l">
              <a:spcBef>
                <a:spcPts val="0"/>
              </a:spcBef>
              <a:spcAft>
                <a:spcPts val="0"/>
              </a:spcAft>
              <a:buClr>
                <a:schemeClr val="accent5"/>
              </a:buClr>
              <a:buSzPts val="2000"/>
              <a:buChar char="-"/>
            </a:pPr>
            <a:r>
              <a:rPr lang="en" sz="2000">
                <a:solidFill>
                  <a:schemeClr val="accent5"/>
                </a:solidFill>
              </a:rPr>
              <a:t>2min question</a:t>
            </a:r>
            <a:endParaRPr sz="2000">
              <a:solidFill>
                <a:schemeClr val="accent5"/>
              </a:solidFill>
            </a:endParaRPr>
          </a:p>
          <a:p>
            <a:pPr indent="0" lvl="0" marL="0" rtl="0" algn="l">
              <a:spcBef>
                <a:spcPts val="0"/>
              </a:spcBef>
              <a:spcAft>
                <a:spcPts val="0"/>
              </a:spcAft>
              <a:buNone/>
            </a:pPr>
            <a:r>
              <a:rPr lang="en" sz="2000">
                <a:solidFill>
                  <a:schemeClr val="accent5"/>
                </a:solidFill>
              </a:rPr>
              <a:t>If you want more time for questions or to show us your project features, reduce the time of the PPT to the minimum.</a:t>
            </a:r>
            <a:endParaRPr sz="2000">
              <a:solidFill>
                <a:schemeClr val="accent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8" name="Shape 138"/>
        <p:cNvGrpSpPr/>
        <p:nvPr/>
      </p:nvGrpSpPr>
      <p:grpSpPr>
        <a:xfrm>
          <a:off x="0" y="0"/>
          <a:ext cx="0" cy="0"/>
          <a:chOff x="0" y="0"/>
          <a:chExt cx="0" cy="0"/>
        </a:xfrm>
      </p:grpSpPr>
      <p:sp>
        <p:nvSpPr>
          <p:cNvPr id="139" name="Google Shape;139;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Links </a:t>
            </a:r>
            <a:r>
              <a:rPr lang="en"/>
              <a:t>(For PSTB Team Only – Not for Presentation)</a:t>
            </a:r>
            <a:endParaRPr/>
          </a:p>
        </p:txBody>
      </p:sp>
      <p:sp>
        <p:nvSpPr>
          <p:cNvPr id="140" name="Google Shape;140;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Github link : https://github.com/y-fares/PSTB_Project</a:t>
            </a:r>
            <a:endParaRPr/>
          </a:p>
          <a:p>
            <a:pPr indent="0" lvl="0" marL="0" rtl="0" algn="l">
              <a:spcBef>
                <a:spcPts val="1600"/>
              </a:spcBef>
              <a:spcAft>
                <a:spcPts val="1600"/>
              </a:spcAft>
              <a:buNone/>
            </a:pPr>
            <a:r>
              <a:rPr lang="en"/>
              <a:t>2-mn video link (CAN BE 3 or 4 minutes max) - from LOOM or Google Drive (must be public)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 name="Shape 144"/>
        <p:cNvGrpSpPr/>
        <p:nvPr/>
      </p:nvGrpSpPr>
      <p:grpSpPr>
        <a:xfrm>
          <a:off x="0" y="0"/>
          <a:ext cx="0" cy="0"/>
          <a:chOff x="0" y="0"/>
          <a:chExt cx="0" cy="0"/>
        </a:xfrm>
      </p:grpSpPr>
      <p:sp>
        <p:nvSpPr>
          <p:cNvPr id="145" name="Google Shape;145;p32"/>
          <p:cNvSpPr txBox="1"/>
          <p:nvPr>
            <p:ph type="title"/>
          </p:nvPr>
        </p:nvSpPr>
        <p:spPr>
          <a:xfrm>
            <a:off x="311700" y="445025"/>
            <a:ext cx="8832300" cy="61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Job </a:t>
            </a:r>
            <a:r>
              <a:rPr lang="en"/>
              <a:t>(For PSTB Team Only – Not for Presentation)</a:t>
            </a:r>
            <a:endParaRPr/>
          </a:p>
          <a:p>
            <a:pPr indent="0" lvl="0" marL="0" rtl="0" algn="l">
              <a:spcBef>
                <a:spcPts val="0"/>
              </a:spcBef>
              <a:spcAft>
                <a:spcPts val="0"/>
              </a:spcAft>
              <a:buNone/>
            </a:pPr>
            <a:r>
              <a:t/>
            </a:r>
            <a:endParaRPr/>
          </a:p>
        </p:txBody>
      </p:sp>
      <p:sp>
        <p:nvSpPr>
          <p:cNvPr id="146" name="Google Shape;146;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CV link</a:t>
            </a:r>
            <a:endParaRPr/>
          </a:p>
          <a:p>
            <a:pPr indent="0" lvl="0" marL="0" rtl="0" algn="l">
              <a:spcBef>
                <a:spcPts val="1600"/>
              </a:spcBef>
              <a:spcAft>
                <a:spcPts val="1600"/>
              </a:spcAft>
              <a:buNone/>
            </a:pPr>
            <a:r>
              <a:rPr lang="en"/>
              <a:t>Linkedin link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